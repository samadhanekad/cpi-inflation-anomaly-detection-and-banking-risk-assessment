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0" r:id="rId4"/>
    <p:sldId id="258" r:id="rId5"/>
    <p:sldId id="259" r:id="rId6"/>
    <p:sldId id="276" r:id="rId7"/>
    <p:sldId id="260" r:id="rId8"/>
    <p:sldId id="282" r:id="rId9"/>
    <p:sldId id="283" r:id="rId10"/>
    <p:sldId id="261" r:id="rId11"/>
    <p:sldId id="271" r:id="rId12"/>
    <p:sldId id="272" r:id="rId13"/>
    <p:sldId id="273" r:id="rId14"/>
    <p:sldId id="274" r:id="rId15"/>
    <p:sldId id="275" r:id="rId16"/>
    <p:sldId id="278" r:id="rId17"/>
    <p:sldId id="263" r:id="rId18"/>
    <p:sldId id="264" r:id="rId19"/>
    <p:sldId id="277" r:id="rId20"/>
    <p:sldId id="284" r:id="rId21"/>
    <p:sldId id="266" r:id="rId22"/>
    <p:sldId id="267" r:id="rId23"/>
    <p:sldId id="280" r:id="rId24"/>
    <p:sldId id="26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1D61"/>
    <a:srgbClr val="47C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843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B6442-6D13-8C7D-52F2-F2D9F2CE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B9DDC-2141-CE36-2E72-D1D0C8AE0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44DE0-1796-FDB0-F0E0-5954C4C4D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F2B9C-05B2-6476-044A-04214D549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58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6FD5-81FD-04C6-E07E-F0A0538D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9D325-10F4-02EC-6448-4A427AA9C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41A35-3C2D-29E3-F07C-1DA8EBC65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7C42-3728-975E-84BE-FD819D642C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8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6E7FF-D889-060B-EA06-E9D9A3A9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A006EA-6696-19A9-E988-078DFF935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2FC4F-2E91-5C77-ECDB-31211EBA9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7A290-0FD7-BB57-63A2-5FCFE9FF68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15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019F-62C2-2C78-4CF6-5A6F2974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70B7F-D7C2-4503-F8CD-94439303D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C6A8C-43C1-B5F1-46DA-6CF981CC7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B602D-15D2-992B-D3EB-0EE1F76C0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82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06765-BBEE-DA10-B44F-17C7A3AE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CDD73-841D-9DE2-7E4C-8D4646F4D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B314B-B607-FDA7-C42A-E474CA14B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913CE-67C9-6F2C-D975-49B177B64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50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3DC9-443E-7E5A-2FC7-9EDFB27D3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3CC69E-FC5E-6F5A-CDF1-562505F25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34B3D7-8D8E-910D-46A0-9EAFC502D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9BBCE-8CBA-A51D-CB8F-5C3475445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895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4EB5-55D9-C859-8779-A3F5A76DE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179C4-2C4E-0170-4665-BA91AABCC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D776A-F217-5546-E6A3-BA4BE7922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80283-E154-BE0E-DEDC-0B34D363F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943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99152-86D5-1BF7-4A0A-D1B956C1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14D01-53E6-8878-4179-47B4E7ACF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6D421-2F26-4E24-D1D6-FE7CEFCFA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195D-315A-7FFB-838C-2308FCD35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60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457200" cy="4809744"/>
          </a:xfrm>
          <a:prstGeom prst="rect">
            <a:avLst/>
          </a:prstGeom>
          <a:solidFill>
            <a:srgbClr val="0D2B4B"/>
          </a:solidFill>
          <a:ln w="12700">
            <a:solidFill>
              <a:srgbClr val="0D2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0" y="164592"/>
            <a:ext cx="2560320" cy="4809744"/>
          </a:xfrm>
          <a:prstGeom prst="rect">
            <a:avLst/>
          </a:prstGeom>
          <a:solidFill>
            <a:srgbClr val="0D2B4B"/>
          </a:solidFill>
          <a:ln w="12700">
            <a:solidFill>
              <a:srgbClr val="0D2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49440" y="457200"/>
            <a:ext cx="1645920" cy="1645920"/>
          </a:xfrm>
          <a:prstGeom prst="ellipse">
            <a:avLst/>
          </a:prstGeom>
          <a:solidFill>
            <a:srgbClr val="0ABDE3">
              <a:alpha val="15000"/>
            </a:srgbClr>
          </a:solidFill>
          <a:ln w="254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06640" y="2377440"/>
            <a:ext cx="1097280" cy="1097280"/>
          </a:xfrm>
          <a:prstGeom prst="ellipse">
            <a:avLst/>
          </a:prstGeom>
          <a:solidFill>
            <a:srgbClr val="F97316">
              <a:alpha val="20000"/>
            </a:srgbClr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Banking Risk Assessment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2084832"/>
            <a:ext cx="41148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CPI Dataset (2014–2024)  ·  5-Method Anomaly Detection Framework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4033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 ·  ARIMA  ·  SARIMA  ·  GARCH  ·  Isolation Forest  ·  XGBoost Forecasting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96412"/>
            <a:ext cx="57607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 Project  ·  MSc Data Science  ·  PMDS505P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Presented by:  Arun Neupane (25MDT0230)  ·  Samadhan Ekad (25MDT0070)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Project Guidance : Satya Narayan Sharma K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9EC4"/>
                </a:solidFill>
                <a:latin typeface="Calibri" pitchFamily="34" charset="0"/>
              </a:rPr>
              <a:t>Course: MSc Data Science  ·  Subject: Regression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548640" cy="1033272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28016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Feature Engineering, Inspection, Cleaning, Correlation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548640" cy="1033272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246888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" y="2560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 → Correlation Filter → PCA Analysis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548640" cy="10332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365760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Properties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2688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Analysis, Seasonal Decomposition, ADF Stationarity Test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128016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54880" y="1280160"/>
            <a:ext cx="548640" cy="10332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128016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13248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13248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· ARIMA · SARIMA · GARCH · Isolation Forest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54880" y="2468880"/>
            <a:ext cx="548640" cy="10332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0" y="246888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13248" y="2560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13248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CBRI Construction, Risk Period Classification, Forecast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65760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548640" cy="10332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365760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13248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Forecasting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13248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CBRI-Enhanced Model · Final Comparison Table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Goals &amp; Analytical Framework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548640" cy="1033272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28016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CPI Inflation Data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India CPI dataset (2014–2024) across banking sectors to understand inflation patterns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548640" cy="1033272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246888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" y="2560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Abnormal Patterns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unusual CPI spikes and structural breaks using 5 complementary detection methods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548640" cy="10332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365760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Statistical &amp; ML Models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2688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Z-Score, ARIMA, SARIMA, GARCH, Isolation Forest and XGBoost for analysis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28016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54880" y="1280160"/>
            <a:ext cx="548640" cy="10332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128016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13248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CBRI Risk Index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13248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Combined Banking Risk Index (CBRI) integrating all detection methods into one risk score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54880" y="2468880"/>
            <a:ext cx="548640" cy="10332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0" y="246888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13248" y="2560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Risk Tiers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13248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each month as Normal, Low, Medium, High  and Critical risk based on CBRI threshold values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657600"/>
            <a:ext cx="411480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548640" cy="10332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365760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13248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Validate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13248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baseline vs CBRI-enhanced XGBoost to validate the value of the risk index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· Feature Engineering · Cleaning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1920240" cy="201168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274,674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" y="20756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468880" y="1417320"/>
            <a:ext cx="1920240" cy="201168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6032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years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42032" y="20756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192024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36592" y="20756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0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58000" y="1417320"/>
            <a:ext cx="192024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94944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31152" y="20756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578608"/>
            <a:ext cx="411480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1148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2999232"/>
            <a:ext cx="54864" cy="219456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66928" y="29992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CPI_MoM_change — Month-over-Month 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328416"/>
            <a:ext cx="54864" cy="219456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66928" y="33284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CPI_YoY_change — Year-over-Year 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657600"/>
            <a:ext cx="54864" cy="219456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66928" y="3657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CPI_rolling_std_6m — 6-Month Volatility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3986784"/>
            <a:ext cx="54864" cy="219456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66928" y="39867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Inflation_shock — Flag: |rate| &gt; 6%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315968"/>
            <a:ext cx="54864" cy="219456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66928" y="43159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CPI_lag_1, lag_3, lag_6 — Lag Features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2578608"/>
            <a:ext cx="42519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09160" y="26517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Pipeline &amp; Banking Groups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09160" y="3017520"/>
            <a:ext cx="201168" cy="201168"/>
          </a:xfrm>
          <a:prstGeom prst="ellipse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83480" y="29992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chronologically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364992"/>
            <a:ext cx="201168" cy="201168"/>
          </a:xfrm>
          <a:prstGeom prst="ellipse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983480" y="33467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lag-NaN rows → 251,597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3712464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983480" y="36941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4 banking groups → 121,539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405993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83480" y="40416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rows after dropna: 121,539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09160" y="4425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Groups: Food &amp; Beverages · Fuel &amp; Light · Housing · Transport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1389888"/>
            <a:ext cx="88239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65760" y="474482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Shock Rate (|rate|&gt;6%): 38.36%  ·  105,355 of 274,674 months flagged as shock events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 → Correlation Filter → PCA Variance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2651760" cy="329184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12618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166420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2011680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&lt; 0.1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standardised features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50545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8 features → Out: 8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0" y="2093976"/>
            <a:ext cx="27432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0" y="1261872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0" y="1261872"/>
            <a:ext cx="2651760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0" y="12618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166420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0128" y="2011680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&gt; 0.85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pairwise corr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250545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8 features → Out: 4 features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52160" y="2093976"/>
            <a:ext cx="27432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26480" y="1261872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26480" y="1261872"/>
            <a:ext cx="265176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26480" y="12618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36208" y="166420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2011680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50.4% · PC2 23.6%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 17.6% · PC4 8.4%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36208" y="250545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4 features → Out: 4 features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364992"/>
            <a:ext cx="4114800" cy="138988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1148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Features Removed by Correlation Filter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" y="37490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CPI_lag_1 , CPI_lag_3, </a:t>
            </a:r>
            <a:r>
              <a:rPr lang="en-US" sz="9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CPI_lag_6</a:t>
            </a:r>
            <a:endParaRPr lang="en-US" sz="900" b="1" dirty="0">
              <a:solidFill>
                <a:srgbClr val="00B05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38912" y="39776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CPI_YoY_change , </a:t>
            </a:r>
            <a:r>
              <a:rPr lang="en-US" sz="9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Inflation_rate  </a:t>
            </a:r>
            <a:endParaRPr lang="en-US" sz="900" b="1" dirty="0">
              <a:solidFill>
                <a:srgbClr val="00B05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38912" y="42062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CPI_value, </a:t>
            </a:r>
            <a:r>
              <a:rPr lang="en-US" sz="9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CPI_lag_6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" y="44348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CPI_value  (highest mean corr across all pairs)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3364992"/>
            <a:ext cx="4206240" cy="138988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Selected Features (4)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7856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92624" y="37673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Inflation_rate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0233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92624" y="40050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CPI_MoM_change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2611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992624" y="42428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CPI_rolling_std_6m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44988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992624" y="44805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CPI_lag_6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8E20D-2776-018F-2F16-97DFE32C1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F2ABFE-753E-FCB9-F564-305D97D002D6}"/>
              </a:ext>
            </a:extLst>
          </p:cNvPr>
          <p:cNvSpPr/>
          <p:nvPr/>
        </p:nvSpPr>
        <p:spPr>
          <a:xfrm>
            <a:off x="0" y="-27432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8355ED-1592-E06E-FBC2-AE64B017EE85}"/>
              </a:ext>
            </a:extLst>
          </p:cNvPr>
          <p:cNvSpPr/>
          <p:nvPr/>
        </p:nvSpPr>
        <p:spPr>
          <a:xfrm>
            <a:off x="0" y="941832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DAA83C-E9DB-17B9-FD05-86D92C125CC0}"/>
              </a:ext>
            </a:extLst>
          </p:cNvPr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bg1"/>
                </a:solidFill>
                <a:latin typeface="Amasis MT Pro Medium" panose="02040604050005020304" pitchFamily="18" charset="0"/>
              </a:rPr>
              <a:t> Visualization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D1E84F-2800-856D-070C-D86BFDBE6935}"/>
              </a:ext>
            </a:extLst>
          </p:cNvPr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Framework for Banking-Sector CPI Anomaly Identification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074AE3D-404B-BD16-BB3F-F38E81F4207A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670538C-33AF-6ACA-1765-0650F76CDDFF}"/>
              </a:ext>
            </a:extLst>
          </p:cNvPr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743E875-1900-74D9-C8AE-2392DFD3D1FD}"/>
              </a:ext>
            </a:extLst>
          </p:cNvPr>
          <p:cNvSpPr/>
          <p:nvPr/>
        </p:nvSpPr>
        <p:spPr>
          <a:xfrm>
            <a:off x="25603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692E815-269A-19C1-63A5-57CBF3EFF5FE}"/>
              </a:ext>
            </a:extLst>
          </p:cNvPr>
          <p:cNvSpPr/>
          <p:nvPr/>
        </p:nvSpPr>
        <p:spPr>
          <a:xfrm>
            <a:off x="25603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17CFB4D-D863-8F45-2D3D-1770B6F26B5B}"/>
              </a:ext>
            </a:extLst>
          </p:cNvPr>
          <p:cNvSpPr/>
          <p:nvPr/>
        </p:nvSpPr>
        <p:spPr>
          <a:xfrm>
            <a:off x="256032" y="3566160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3C1FE3E-0017-5C9C-CA36-ABDB2DC08E48}"/>
              </a:ext>
            </a:extLst>
          </p:cNvPr>
          <p:cNvSpPr/>
          <p:nvPr/>
        </p:nvSpPr>
        <p:spPr>
          <a:xfrm>
            <a:off x="487375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C2FD6C3-F080-C649-B36A-BBD154A48D10}"/>
              </a:ext>
            </a:extLst>
          </p:cNvPr>
          <p:cNvSpPr/>
          <p:nvPr/>
        </p:nvSpPr>
        <p:spPr>
          <a:xfrm>
            <a:off x="487375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B2E12-F3A9-FD10-A362-C6BA1544CB53}"/>
              </a:ext>
            </a:extLst>
          </p:cNvPr>
          <p:cNvSpPr txBox="1"/>
          <p:nvPr/>
        </p:nvSpPr>
        <p:spPr>
          <a:xfrm>
            <a:off x="0" y="996696"/>
            <a:ext cx="4361688" cy="3364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01F8F9-8DE0-DD77-877C-4139FE24F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6696"/>
            <a:ext cx="4572000" cy="3886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19A96DE-BF67-8677-4A85-1A9E0B948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1014984"/>
            <a:ext cx="4666302" cy="391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5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Properties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Trend · Seasonal Decomposition · Stationarity Tests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4114800" cy="2487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54864" cy="2487168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" y="1335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Stationarity Tests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" y="1682496"/>
            <a:ext cx="987552" cy="347472"/>
          </a:xfrm>
          <a:prstGeom prst="rect">
            <a:avLst/>
          </a:prstGeom>
          <a:solidFill>
            <a:srgbClr val="0A193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9184" y="168249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35024" y="1682496"/>
            <a:ext cx="987552" cy="347472"/>
          </a:xfrm>
          <a:prstGeom prst="rect">
            <a:avLst/>
          </a:prstGeom>
          <a:solidFill>
            <a:srgbClr val="0A193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335024" y="168249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40864" y="1682496"/>
            <a:ext cx="987552" cy="347472"/>
          </a:xfrm>
          <a:prstGeom prst="rect">
            <a:avLst/>
          </a:prstGeom>
          <a:solidFill>
            <a:srgbClr val="0A193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340864" y="168249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46704" y="1682496"/>
            <a:ext cx="987552" cy="347472"/>
          </a:xfrm>
          <a:prstGeom prst="rect">
            <a:avLst/>
          </a:prstGeom>
          <a:solidFill>
            <a:srgbClr val="0A193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46704" y="168249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9184" y="2066544"/>
            <a:ext cx="9875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9184" y="2066544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Series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335024" y="2066544"/>
            <a:ext cx="9875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335024" y="2066544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-1.6547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340864" y="2066544"/>
            <a:ext cx="9875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340864" y="2066544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0.4546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46704" y="2066544"/>
            <a:ext cx="9875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346704" y="2066544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" y="2450592"/>
            <a:ext cx="987552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9184" y="24505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Differenced (d=1)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335024" y="2450592"/>
            <a:ext cx="987552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335024" y="24505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-4.1371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40864" y="2450592"/>
            <a:ext cx="987552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340864" y="24505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46704" y="2450592"/>
            <a:ext cx="987552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46704" y="24505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4048" y="32552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 = 1 confirmed for ARIMA/SARIMA modelling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" y="3493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Values: 1%: -3.493  |  5%: -2.889  |  10%: -2.581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1261872"/>
            <a:ext cx="4206240" cy="2487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617720" y="1261872"/>
            <a:ext cx="54864" cy="2487168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18888" y="1335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Decomposition (Additive, period=12)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18888" y="1737360"/>
            <a:ext cx="914400" cy="457200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18888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33872" y="1783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direction of inflation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18888" y="2377440"/>
            <a:ext cx="914400" cy="457200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18888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33872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12-month yearly cycle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18888" y="3017520"/>
            <a:ext cx="9144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818888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33872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shocks → Anomaly signals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18888" y="35112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Range: Jan 2015 → Dec 2024  ·  120 monthly observations (resampled MS)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3886200"/>
            <a:ext cx="85496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57200" y="3941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Statistics (2015–2024)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834640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834640" y="4169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5.24%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069080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069080" y="4169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2.30%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303520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303520" y="4169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-0.73%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537960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537960" y="4169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772400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Rate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772400" y="4169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38.36%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tx1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CPI Inflation Trend — Banking Sectors (2014–2024)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95360" y="0"/>
            <a:ext cx="54864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9536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94360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914400"/>
            <a:ext cx="2423160" cy="841248"/>
          </a:xfrm>
          <a:prstGeom prst="rect">
            <a:avLst/>
          </a:prstGeom>
          <a:solidFill>
            <a:srgbClr val="15253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492240" y="914400"/>
            <a:ext cx="64008" cy="8412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629400" y="9509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~9.5%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29400" y="12801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Inflation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29400" y="14630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Mid-2020 (COVID surge)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92240" y="1892808"/>
            <a:ext cx="2423160" cy="841248"/>
          </a:xfrm>
          <a:prstGeom prst="rect">
            <a:avLst/>
          </a:prstGeom>
          <a:solidFill>
            <a:srgbClr val="15253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92240" y="1892808"/>
            <a:ext cx="64008" cy="8412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629400" y="19293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629400" y="22585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Low Inflation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29400" y="24414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2018 deflation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92240" y="2871216"/>
            <a:ext cx="2423160" cy="841248"/>
          </a:xfrm>
          <a:prstGeom prst="rect">
            <a:avLst/>
          </a:prstGeom>
          <a:solidFill>
            <a:srgbClr val="15253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492240" y="2871216"/>
            <a:ext cx="64008" cy="84124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629400" y="29077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Rising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29400" y="32369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Trend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29400" y="341985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 → 6.1% (2014–2024)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0" y="4069080"/>
            <a:ext cx="9144000" cy="9144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0" y="4069080"/>
            <a:ext cx="914400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182880" y="413308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2018–2019: Extreme deflation — 3 red-dot events below 0%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154680" y="4206240"/>
            <a:ext cx="0" cy="640080"/>
          </a:xfrm>
          <a:prstGeom prst="line">
            <a:avLst/>
          </a:prstGeom>
          <a:noFill/>
          <a:ln w="12700">
            <a:solidFill>
              <a:srgbClr val="2C4A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200400" y="413308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2020–2021: Sharpest peak driven by COVID supply shocks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172200" y="4206240"/>
            <a:ext cx="0" cy="640080"/>
          </a:xfrm>
          <a:prstGeom prst="line">
            <a:avLst/>
          </a:prstGeom>
          <a:noFill/>
          <a:ln w="12700">
            <a:solidFill>
              <a:srgbClr val="2C4A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217920" y="413308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2022–2024: Gradual normalization with moderate 5–7% range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tx1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Decomposition of Inflation Rate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95360" y="0"/>
            <a:ext cx="548640" cy="77724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9536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68680"/>
            <a:ext cx="3108960" cy="804672"/>
          </a:xfrm>
          <a:prstGeom prst="rect">
            <a:avLst/>
          </a:prstGeom>
          <a:solidFill>
            <a:srgbClr val="15253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806440" y="868680"/>
            <a:ext cx="64008" cy="80467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925312" y="905256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25312" y="112471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monthly CPI inflation series — shows full volatility including peaks up to 9.5% and troughs near −0.7%.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5806440" y="1764792"/>
            <a:ext cx="3108960" cy="804672"/>
          </a:xfrm>
          <a:prstGeom prst="rect">
            <a:avLst/>
          </a:prstGeom>
          <a:solidFill>
            <a:srgbClr val="15253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806440" y="1764792"/>
            <a:ext cx="64008" cy="804672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925312" y="1801368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25312" y="202082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direction smoothed out of noise. Dipped to ~1.5% (2018–19), peaked ~8% (2021), now stabilizing ~5%.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806440" y="2660904"/>
            <a:ext cx="3108960" cy="804672"/>
          </a:xfrm>
          <a:prstGeom prst="rect">
            <a:avLst/>
          </a:prstGeom>
          <a:solidFill>
            <a:srgbClr val="15253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806440" y="2660904"/>
            <a:ext cx="64008" cy="804672"/>
          </a:xfrm>
          <a:prstGeom prst="rect">
            <a:avLst/>
          </a:prstGeom>
          <a:solidFill>
            <a:srgbClr val="FFCC80"/>
          </a:solidFill>
          <a:ln w="1270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925312" y="269748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25312" y="291693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oscillation of ±0.3%. Repeatable pattern suggests food/crop calendar influence on CPI.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806440" y="3557016"/>
            <a:ext cx="3108960" cy="804672"/>
          </a:xfrm>
          <a:prstGeom prst="rect">
            <a:avLst/>
          </a:prstGeom>
          <a:solidFill>
            <a:srgbClr val="15253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5806440" y="3557016"/>
            <a:ext cx="64008" cy="804672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925312" y="359359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25312" y="381304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shocks — COVID-19 spike (2020) clearly visible as a large positive residual outlier (~2.5%).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0" y="4736592"/>
            <a:ext cx="9144000" cy="3200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274320" y="4745736"/>
            <a:ext cx="8595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Additive STL decomposition  |  Seasonal amplitude ≈ ±0.3%  |  Residuals mostly within ±1.5 (COVID outlier at ~2.5%)  |  Data: 2014–2024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Anomaly Detection (5 Methods)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Framework for Banking-Sector CPI Anomaly Identification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1261872"/>
            <a:ext cx="42519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1261872"/>
            <a:ext cx="502920" cy="1060704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13350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16276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Statistical  ·  Threshold: ±2σ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50392" y="18653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4 anomalies  ·  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414016"/>
            <a:ext cx="42519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56032" y="2414016"/>
            <a:ext cx="502920" cy="106070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5603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(1,1,1)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" y="277977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Time Series  ·  AIC: 307.87 · BIC: 316.21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0392" y="3017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5 anomalies  ·  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3566160"/>
            <a:ext cx="42519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6032" y="3566160"/>
            <a:ext cx="502920" cy="10607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6032" y="3566160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" y="3639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(1,1,1)(1,1,1,12)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" y="39319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Seasonal  ·  AIC: 253.86 · BIC: 275.06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0392" y="41696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6 anomalies  ·  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73752" y="1261872"/>
            <a:ext cx="42519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73752" y="1261872"/>
            <a:ext cx="502920" cy="10607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7375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68112" y="13350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(1,1)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68112" y="16276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Volatility  ·  α=0.223 · β=0.205 · α+β=0.428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68112" y="18653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3 anomalies  ·  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73752" y="2423160"/>
            <a:ext cx="42519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5" name="Shape 33"/>
          <p:cNvSpPr/>
          <p:nvPr/>
        </p:nvSpPr>
        <p:spPr>
          <a:xfrm>
            <a:off x="4873752" y="2414016"/>
            <a:ext cx="502920" cy="10607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7375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68112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68112" y="277977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ML Multivariate  ·  n_estimators=200 · contamination=8%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68112" y="3017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10 anomalies  ·  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14AE8-1E1B-C483-EC03-8BF5153CF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77439D-8150-A6F9-1A21-7FDFB8B1ED1A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17AF2F-78E1-B443-B12D-59C53380156F}"/>
              </a:ext>
            </a:extLst>
          </p:cNvPr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F02911-858D-5384-2657-40E50DCBB74E}"/>
              </a:ext>
            </a:extLst>
          </p:cNvPr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Z-Score Method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4DC0BBC-561D-DB4F-313D-63F3024A959B}"/>
              </a:ext>
            </a:extLst>
          </p:cNvPr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Framework for Banking-Sector CPI Anomaly Identification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1983141-B5E5-87D8-C772-A72108B22E8D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F45153B-0183-6F4C-A4FF-49408326CA47}"/>
              </a:ext>
            </a:extLst>
          </p:cNvPr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7DFB753-E2C4-0B98-425A-B45F4F067E34}"/>
              </a:ext>
            </a:extLst>
          </p:cNvPr>
          <p:cNvSpPr/>
          <p:nvPr/>
        </p:nvSpPr>
        <p:spPr>
          <a:xfrm>
            <a:off x="25603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326CF96-1BA6-0241-032B-37C522D2E5EA}"/>
              </a:ext>
            </a:extLst>
          </p:cNvPr>
          <p:cNvSpPr/>
          <p:nvPr/>
        </p:nvSpPr>
        <p:spPr>
          <a:xfrm>
            <a:off x="25603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3C4A836-37A2-2631-4CC1-CDC7CC7702A4}"/>
              </a:ext>
            </a:extLst>
          </p:cNvPr>
          <p:cNvSpPr/>
          <p:nvPr/>
        </p:nvSpPr>
        <p:spPr>
          <a:xfrm>
            <a:off x="256032" y="3566160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C586D2A-8F84-6E52-38A4-CF7122A733BC}"/>
              </a:ext>
            </a:extLst>
          </p:cNvPr>
          <p:cNvSpPr/>
          <p:nvPr/>
        </p:nvSpPr>
        <p:spPr>
          <a:xfrm>
            <a:off x="487375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9B109BA-4099-78E3-7F82-2BC4FE58C957}"/>
              </a:ext>
            </a:extLst>
          </p:cNvPr>
          <p:cNvSpPr/>
          <p:nvPr/>
        </p:nvSpPr>
        <p:spPr>
          <a:xfrm>
            <a:off x="487375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232EC64-B1FE-197A-95A4-86BB8D6A9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4984"/>
            <a:ext cx="9144000" cy="372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9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0BE2E3-A747-7623-E3FD-6ECDC32F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E08BC0-4952-1709-DD76-E9CFC0D277C6}"/>
              </a:ext>
            </a:extLst>
          </p:cNvPr>
          <p:cNvSpPr/>
          <p:nvPr/>
        </p:nvSpPr>
        <p:spPr>
          <a:xfrm>
            <a:off x="0" y="-18288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9C4989-35F3-A408-E15F-DFDF65B48A8D}"/>
              </a:ext>
            </a:extLst>
          </p:cNvPr>
          <p:cNvSpPr/>
          <p:nvPr/>
        </p:nvSpPr>
        <p:spPr>
          <a:xfrm>
            <a:off x="0" y="941832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867161-C4EA-EAF8-376D-EF05F0AF8A34}"/>
              </a:ext>
            </a:extLst>
          </p:cNvPr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ARIMA Model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52189A8-CFEC-3050-EFD1-1BE4975B884C}"/>
              </a:ext>
            </a:extLst>
          </p:cNvPr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Framework for Banking-Sector CPI Anomaly Identification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094E212-25FC-7B6A-8CE6-0418A52CEFB9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8479F7F-7B83-8E04-F3FE-F03BEAC305EE}"/>
              </a:ext>
            </a:extLst>
          </p:cNvPr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204EF1-445E-DD5A-7A3F-BD23A6EF5225}"/>
              </a:ext>
            </a:extLst>
          </p:cNvPr>
          <p:cNvSpPr/>
          <p:nvPr/>
        </p:nvSpPr>
        <p:spPr>
          <a:xfrm>
            <a:off x="25603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EFA9605-54A4-65DB-BACC-BC3BD8776A02}"/>
              </a:ext>
            </a:extLst>
          </p:cNvPr>
          <p:cNvSpPr/>
          <p:nvPr/>
        </p:nvSpPr>
        <p:spPr>
          <a:xfrm>
            <a:off x="25603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8F44F1C-A621-53BB-09B1-2DFCA81BB4F9}"/>
              </a:ext>
            </a:extLst>
          </p:cNvPr>
          <p:cNvSpPr/>
          <p:nvPr/>
        </p:nvSpPr>
        <p:spPr>
          <a:xfrm>
            <a:off x="256032" y="3566160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2654382-566F-5362-18A6-63AF81D97ACB}"/>
              </a:ext>
            </a:extLst>
          </p:cNvPr>
          <p:cNvSpPr/>
          <p:nvPr/>
        </p:nvSpPr>
        <p:spPr>
          <a:xfrm>
            <a:off x="487375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700A72D-14CF-91FA-D080-E0D1DBAB508E}"/>
              </a:ext>
            </a:extLst>
          </p:cNvPr>
          <p:cNvSpPr/>
          <p:nvPr/>
        </p:nvSpPr>
        <p:spPr>
          <a:xfrm>
            <a:off x="487375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452422-BCA7-482F-79FE-39F726907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6927"/>
            <a:ext cx="9144000" cy="361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3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2246A-81B8-AADA-AB2D-59A35C93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AFA7AF-DF0B-26D9-330E-7BDAB603F29F}"/>
              </a:ext>
            </a:extLst>
          </p:cNvPr>
          <p:cNvSpPr/>
          <p:nvPr/>
        </p:nvSpPr>
        <p:spPr>
          <a:xfrm>
            <a:off x="0" y="-18288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E7919C-9B83-DB5E-7DDF-9C97B643145D}"/>
              </a:ext>
            </a:extLst>
          </p:cNvPr>
          <p:cNvSpPr/>
          <p:nvPr/>
        </p:nvSpPr>
        <p:spPr>
          <a:xfrm>
            <a:off x="0" y="941832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54A0BC-A7BB-60EA-517E-D3DCF9D28C7F}"/>
              </a:ext>
            </a:extLst>
          </p:cNvPr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SARIMA Model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931431-2D78-9F4F-CD38-DBAD6D01EEFE}"/>
              </a:ext>
            </a:extLst>
          </p:cNvPr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Framework for Banking-Sector CPI Anomaly Identification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4743CE5-8EC3-AF1A-7E6B-C9C8CCB4224F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D3F04C-42A8-D4BF-0C17-2A2D75A468A8}"/>
              </a:ext>
            </a:extLst>
          </p:cNvPr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C334D1B-4B05-CD26-61B0-5A528A4E8ACB}"/>
              </a:ext>
            </a:extLst>
          </p:cNvPr>
          <p:cNvSpPr/>
          <p:nvPr/>
        </p:nvSpPr>
        <p:spPr>
          <a:xfrm>
            <a:off x="25603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4856E5C-8BB6-D240-6285-E2E7B782E349}"/>
              </a:ext>
            </a:extLst>
          </p:cNvPr>
          <p:cNvSpPr/>
          <p:nvPr/>
        </p:nvSpPr>
        <p:spPr>
          <a:xfrm>
            <a:off x="25603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4DCEEE-3C2B-86FF-2B93-E734DF70395F}"/>
              </a:ext>
            </a:extLst>
          </p:cNvPr>
          <p:cNvSpPr/>
          <p:nvPr/>
        </p:nvSpPr>
        <p:spPr>
          <a:xfrm>
            <a:off x="256032" y="3566160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DE331E7-244E-0C45-F81A-FD3C68155562}"/>
              </a:ext>
            </a:extLst>
          </p:cNvPr>
          <p:cNvSpPr/>
          <p:nvPr/>
        </p:nvSpPr>
        <p:spPr>
          <a:xfrm>
            <a:off x="487375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E2AC4F7-6771-98FA-CF11-362AD3546229}"/>
              </a:ext>
            </a:extLst>
          </p:cNvPr>
          <p:cNvSpPr/>
          <p:nvPr/>
        </p:nvSpPr>
        <p:spPr>
          <a:xfrm>
            <a:off x="487375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F68104-5859-27BF-2D8F-2EC383E92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225"/>
            <a:ext cx="9144000" cy="366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84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5BC7C-2026-A048-06BC-CC74F7551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27A0E2-C05D-9A31-DDC8-9D6D899AAF21}"/>
              </a:ext>
            </a:extLst>
          </p:cNvPr>
          <p:cNvSpPr/>
          <p:nvPr/>
        </p:nvSpPr>
        <p:spPr>
          <a:xfrm>
            <a:off x="0" y="-18288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1B9D84-093E-1C42-6047-122C2A994E47}"/>
              </a:ext>
            </a:extLst>
          </p:cNvPr>
          <p:cNvSpPr/>
          <p:nvPr/>
        </p:nvSpPr>
        <p:spPr>
          <a:xfrm>
            <a:off x="0" y="941832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6A3660-95A3-7E0F-FA8A-4DE877FC29DF}"/>
              </a:ext>
            </a:extLst>
          </p:cNvPr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GARCH Model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6E1987-547C-2631-D84E-F1733BE09D12}"/>
              </a:ext>
            </a:extLst>
          </p:cNvPr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Framework for Banking-Sector CPI Anomaly Identification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3FC0C73-41FC-5B37-CA31-5B15F0BF25E2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8A66089-4EDA-DE96-9804-CCA348A6B1A9}"/>
              </a:ext>
            </a:extLst>
          </p:cNvPr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611876-0941-4EBF-A4E6-539CDD481210}"/>
              </a:ext>
            </a:extLst>
          </p:cNvPr>
          <p:cNvSpPr/>
          <p:nvPr/>
        </p:nvSpPr>
        <p:spPr>
          <a:xfrm>
            <a:off x="25603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290FC8B-F3F3-729C-A4BB-91896CF77A2A}"/>
              </a:ext>
            </a:extLst>
          </p:cNvPr>
          <p:cNvSpPr/>
          <p:nvPr/>
        </p:nvSpPr>
        <p:spPr>
          <a:xfrm>
            <a:off x="25603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9633EE4-11E9-0640-1760-8BB9EAAF95C5}"/>
              </a:ext>
            </a:extLst>
          </p:cNvPr>
          <p:cNvSpPr/>
          <p:nvPr/>
        </p:nvSpPr>
        <p:spPr>
          <a:xfrm>
            <a:off x="256032" y="3566160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762D2BB-EA83-F649-48AD-3F5A0CF2ED90}"/>
              </a:ext>
            </a:extLst>
          </p:cNvPr>
          <p:cNvSpPr/>
          <p:nvPr/>
        </p:nvSpPr>
        <p:spPr>
          <a:xfrm>
            <a:off x="487375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A67DE6F-87A9-4CC1-DC86-47D7999D798A}"/>
              </a:ext>
            </a:extLst>
          </p:cNvPr>
          <p:cNvSpPr/>
          <p:nvPr/>
        </p:nvSpPr>
        <p:spPr>
          <a:xfrm>
            <a:off x="487375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BC5A2F-AB5A-0871-3785-78F6D5226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9019"/>
            <a:ext cx="9144000" cy="356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93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D8180-DCB6-4F7E-1703-4E55E52FA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6B3BD4-A9F5-BE3C-90D8-7C68AC357F71}"/>
              </a:ext>
            </a:extLst>
          </p:cNvPr>
          <p:cNvSpPr/>
          <p:nvPr/>
        </p:nvSpPr>
        <p:spPr>
          <a:xfrm>
            <a:off x="0" y="-18288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4F424D-6F43-1A9E-C1EF-8E9C06410CDB}"/>
              </a:ext>
            </a:extLst>
          </p:cNvPr>
          <p:cNvSpPr/>
          <p:nvPr/>
        </p:nvSpPr>
        <p:spPr>
          <a:xfrm>
            <a:off x="0" y="941832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A28068-BA01-5318-EDA9-1632B49E4557}"/>
              </a:ext>
            </a:extLst>
          </p:cNvPr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Isolation Forest ( ML Approach )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E0B40C9-937E-5D9C-D277-65BAFA60EE75}"/>
              </a:ext>
            </a:extLst>
          </p:cNvPr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Framework for Banking-Sector CPI Anomaly Identification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3068B47-44EB-11EB-C9E9-E0601B377ED5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3E21B4-AFCC-F51F-5A38-08361F0B37E9}"/>
              </a:ext>
            </a:extLst>
          </p:cNvPr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69A40F-BCE4-241C-A1F2-2320BF35EDB0}"/>
              </a:ext>
            </a:extLst>
          </p:cNvPr>
          <p:cNvSpPr/>
          <p:nvPr/>
        </p:nvSpPr>
        <p:spPr>
          <a:xfrm>
            <a:off x="25603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F00CE1E-6D29-A100-2731-B29B97D056E6}"/>
              </a:ext>
            </a:extLst>
          </p:cNvPr>
          <p:cNvSpPr/>
          <p:nvPr/>
        </p:nvSpPr>
        <p:spPr>
          <a:xfrm>
            <a:off x="25603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F1B85D5-0911-1E99-F21F-0B841FB5B0CB}"/>
              </a:ext>
            </a:extLst>
          </p:cNvPr>
          <p:cNvSpPr/>
          <p:nvPr/>
        </p:nvSpPr>
        <p:spPr>
          <a:xfrm>
            <a:off x="256032" y="3566160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8DDFEC7-A5A3-74E0-CCF3-8B79F3EE8904}"/>
              </a:ext>
            </a:extLst>
          </p:cNvPr>
          <p:cNvSpPr/>
          <p:nvPr/>
        </p:nvSpPr>
        <p:spPr>
          <a:xfrm>
            <a:off x="487375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A8CF7F0-9515-88CF-FD5D-3CB22864DAB3}"/>
              </a:ext>
            </a:extLst>
          </p:cNvPr>
          <p:cNvSpPr/>
          <p:nvPr/>
        </p:nvSpPr>
        <p:spPr>
          <a:xfrm>
            <a:off x="487375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56F55-B342-CC50-A762-0B1E15F19B8B}"/>
              </a:ext>
            </a:extLst>
          </p:cNvPr>
          <p:cNvSpPr txBox="1"/>
          <p:nvPr/>
        </p:nvSpPr>
        <p:spPr>
          <a:xfrm>
            <a:off x="0" y="1261872"/>
            <a:ext cx="9144000" cy="3364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5F7CCE-6ECD-9CB5-E17B-D84A2800B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9" y="1033273"/>
            <a:ext cx="8479231" cy="389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9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42283-71D4-1A94-9EA7-5986575F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566B6B-5611-07DE-1F2E-603A8CE92177}"/>
              </a:ext>
            </a:extLst>
          </p:cNvPr>
          <p:cNvSpPr/>
          <p:nvPr/>
        </p:nvSpPr>
        <p:spPr>
          <a:xfrm>
            <a:off x="0" y="-18288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EC4B92-0823-FCE1-A29C-78508F48D5B4}"/>
              </a:ext>
            </a:extLst>
          </p:cNvPr>
          <p:cNvSpPr/>
          <p:nvPr/>
        </p:nvSpPr>
        <p:spPr>
          <a:xfrm>
            <a:off x="0" y="941832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5FF434-C42C-1F25-4A23-F44C118F2EE2}"/>
              </a:ext>
            </a:extLst>
          </p:cNvPr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Comparison — All 5 Methods</a:t>
            </a:r>
            <a:endParaRPr lang="en-US" sz="2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E458696-FD12-2990-3A05-3EA34E64CAE8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CBB4697-F8ED-638E-3F07-87AB6DA7B4B2}"/>
              </a:ext>
            </a:extLst>
          </p:cNvPr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89CAA41-0FE3-A7B3-D28D-EDB04FEB1DD4}"/>
              </a:ext>
            </a:extLst>
          </p:cNvPr>
          <p:cNvSpPr/>
          <p:nvPr/>
        </p:nvSpPr>
        <p:spPr>
          <a:xfrm>
            <a:off x="25603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4F9A39C-7437-F844-F0A0-A451E967AB1B}"/>
              </a:ext>
            </a:extLst>
          </p:cNvPr>
          <p:cNvSpPr/>
          <p:nvPr/>
        </p:nvSpPr>
        <p:spPr>
          <a:xfrm>
            <a:off x="25603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F193808-7D93-ACE0-F7AD-03DC332DC5F3}"/>
              </a:ext>
            </a:extLst>
          </p:cNvPr>
          <p:cNvSpPr/>
          <p:nvPr/>
        </p:nvSpPr>
        <p:spPr>
          <a:xfrm>
            <a:off x="256032" y="3566160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85272DD-A9FA-0FDF-A5AA-3DA47541C3A4}"/>
              </a:ext>
            </a:extLst>
          </p:cNvPr>
          <p:cNvSpPr/>
          <p:nvPr/>
        </p:nvSpPr>
        <p:spPr>
          <a:xfrm>
            <a:off x="487375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3065116-E67C-355C-6F25-BF484506C3D5}"/>
              </a:ext>
            </a:extLst>
          </p:cNvPr>
          <p:cNvSpPr/>
          <p:nvPr/>
        </p:nvSpPr>
        <p:spPr>
          <a:xfrm>
            <a:off x="487375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9A5FD9-73C9-04F5-D9D9-97961EEC0A31}"/>
              </a:ext>
            </a:extLst>
          </p:cNvPr>
          <p:cNvSpPr txBox="1"/>
          <p:nvPr/>
        </p:nvSpPr>
        <p:spPr>
          <a:xfrm>
            <a:off x="0" y="1261872"/>
            <a:ext cx="9144000" cy="3364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7587A-7456-4371-1F3E-A58BFD56B774}"/>
              </a:ext>
            </a:extLst>
          </p:cNvPr>
          <p:cNvSpPr txBox="1"/>
          <p:nvPr/>
        </p:nvSpPr>
        <p:spPr>
          <a:xfrm>
            <a:off x="0" y="1163117"/>
            <a:ext cx="9144000" cy="3679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C71A3E-AF1F-7648-6369-8E1B3825D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080"/>
            <a:ext cx="914400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82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Banking Risk Index (CBRI)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Aggregate of All 5 Detection Methods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49640" cy="7772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CBRI  =  0.10 × Z-Score  +  0.15 × ARIMA  +  0.15 × SARIMA  +  0.35 × GARCH_norm  +  0.25 × ISO_norm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502920" cy="621792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22128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267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5420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 — low specificity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502920" cy="621792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29260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2980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255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level shocks in AR structure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63931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3639312"/>
            <a:ext cx="502920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4320" y="36393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6941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9684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seasonal banking patterns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09160" y="2212848"/>
            <a:ext cx="502920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09160" y="22128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2267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25420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= core banking risk signal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292608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09160" y="2926080"/>
            <a:ext cx="502920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09160" y="29260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2980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3255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ML — captures complex patterns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3639312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46320" y="3694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CBRI Statistics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40050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46320" y="42428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0.1146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806440" y="40050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06440" y="42428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0.1001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40050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66560" y="42428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26680" y="40050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726680" y="42428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0.6102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 Period Classification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CBRI-Based Tiered Risk Taxonomy · 120 Monthly Observations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3931920" cy="2487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335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CBRI Risk Thresholds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700784"/>
            <a:ext cx="9601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17007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26464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CBRI &lt; 0.1146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084832"/>
            <a:ext cx="9601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20848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26464" y="2121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0.1146 ≤ CBRI &lt; 0.1646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468880"/>
            <a:ext cx="96012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24688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26464" y="2505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0.1646 ≤ CBRI &lt; 0.2146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2852928"/>
            <a:ext cx="9601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4048" y="285292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26464" y="2889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0.2146 ≤ CBRI &lt; 0.2647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3236976"/>
            <a:ext cx="96012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32369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426464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CBRI ≥ 0.2647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0" y="1261872"/>
            <a:ext cx="4434840" cy="2487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0" y="13350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Distribution (120 months)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17190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1755648"/>
            <a:ext cx="2277953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992953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(69.2%)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0" y="21031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2139696"/>
            <a:ext cx="437815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52815" y="2121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(13.3%)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0" y="2487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2523744"/>
            <a:ext cx="108631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823631" y="2505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(3.3%)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0" y="28712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2907792"/>
            <a:ext cx="220553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935553" y="2889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(6.7%)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0" y="32552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0" y="3291840"/>
            <a:ext cx="246888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961888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(7.5%)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858768"/>
            <a:ext cx="8549640" cy="868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5720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High/Critical Period Events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2015 — CRITICAL — Global commodity price collapse / deflationary pressure   ·   Jan 2016 — HIGH — Demonetisation shock / banking liquidity disruption   ·   Jan 2017 — HIGH — GST implementation / supply chain price distortion   ·   Aug–Oct 2023 — HIGH — GARCH volatility cluster / elevated CPI returns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CD7A8-609F-7958-FDC4-89AD3721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BC34D9-C36B-CC33-BC55-F0CF08680FA5}"/>
              </a:ext>
            </a:extLst>
          </p:cNvPr>
          <p:cNvSpPr/>
          <p:nvPr/>
        </p:nvSpPr>
        <p:spPr>
          <a:xfrm>
            <a:off x="0" y="-18288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07E50E-9351-6476-0D87-889E9DC3666E}"/>
              </a:ext>
            </a:extLst>
          </p:cNvPr>
          <p:cNvSpPr/>
          <p:nvPr/>
        </p:nvSpPr>
        <p:spPr>
          <a:xfrm>
            <a:off x="0" y="941832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661158-1616-3919-7DA0-0AC931AD90EE}"/>
              </a:ext>
            </a:extLst>
          </p:cNvPr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bg1"/>
                </a:solidFill>
              </a:rPr>
              <a:t>Visualization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18BBF97-0151-2E5B-B760-58681ECB2D7B}"/>
              </a:ext>
            </a:extLst>
          </p:cNvPr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Framework for Banking-Sector CPI Anomaly Identification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2AB2547-E3D4-7C85-0150-DDD77AF2795D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B327BDB-3431-D82F-2B56-253EBFA5EE82}"/>
              </a:ext>
            </a:extLst>
          </p:cNvPr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1B0044A-2259-B665-62A0-22CF4ED2D0FE}"/>
              </a:ext>
            </a:extLst>
          </p:cNvPr>
          <p:cNvSpPr/>
          <p:nvPr/>
        </p:nvSpPr>
        <p:spPr>
          <a:xfrm>
            <a:off x="25603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4870C73-FA25-A5B6-0E7A-0AE1ABF49DAE}"/>
              </a:ext>
            </a:extLst>
          </p:cNvPr>
          <p:cNvSpPr/>
          <p:nvPr/>
        </p:nvSpPr>
        <p:spPr>
          <a:xfrm>
            <a:off x="25603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1D04837-6430-5C9E-8B50-34801BF0CBB1}"/>
              </a:ext>
            </a:extLst>
          </p:cNvPr>
          <p:cNvSpPr/>
          <p:nvPr/>
        </p:nvSpPr>
        <p:spPr>
          <a:xfrm>
            <a:off x="256032" y="3566160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9E66BFF-0829-118F-C681-8FD1E2AC41FE}"/>
              </a:ext>
            </a:extLst>
          </p:cNvPr>
          <p:cNvSpPr/>
          <p:nvPr/>
        </p:nvSpPr>
        <p:spPr>
          <a:xfrm>
            <a:off x="4873752" y="1261872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6E2FDC6-A860-CF02-7114-5FE9E12C2B44}"/>
              </a:ext>
            </a:extLst>
          </p:cNvPr>
          <p:cNvSpPr/>
          <p:nvPr/>
        </p:nvSpPr>
        <p:spPr>
          <a:xfrm>
            <a:off x="4873752" y="2414016"/>
            <a:ext cx="502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28954-DDBC-642B-F53C-F5E5CB49829B}"/>
              </a:ext>
            </a:extLst>
          </p:cNvPr>
          <p:cNvSpPr txBox="1"/>
          <p:nvPr/>
        </p:nvSpPr>
        <p:spPr>
          <a:xfrm>
            <a:off x="0" y="1261872"/>
            <a:ext cx="9144000" cy="3364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24EE33-A3D1-A2AC-8956-24CC495A8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3272"/>
            <a:ext cx="9144000" cy="356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859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534924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" name="Shape 1"/>
          <p:cNvSpPr/>
          <p:nvPr/>
        </p:nvSpPr>
        <p:spPr>
          <a:xfrm>
            <a:off x="0" y="534924"/>
            <a:ext cx="9121140" cy="37719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4" name="Text 2"/>
          <p:cNvSpPr/>
          <p:nvPr/>
        </p:nvSpPr>
        <p:spPr>
          <a:xfrm>
            <a:off x="240030" y="0"/>
            <a:ext cx="582930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 HIGH / CRITICAL RISK PERIODS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338060" y="68580"/>
            <a:ext cx="1577340" cy="384048"/>
          </a:xfrm>
          <a:prstGeom prst="rect">
            <a:avLst/>
          </a:prstGeom>
          <a:solidFill>
            <a:srgbClr val="2ECC40"/>
          </a:solidFill>
          <a:ln w="12700">
            <a:solidFill>
              <a:srgbClr val="2ECC4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6" name="Text 4"/>
          <p:cNvSpPr/>
          <p:nvPr/>
        </p:nvSpPr>
        <p:spPr>
          <a:xfrm>
            <a:off x="7338060" y="68580"/>
            <a:ext cx="15773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5740" y="603504"/>
            <a:ext cx="617220" cy="288036"/>
          </a:xfrm>
          <a:prstGeom prst="rect">
            <a:avLst/>
          </a:prstGeom>
          <a:solidFill>
            <a:srgbClr val="1E3557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8" name="Text 6"/>
          <p:cNvSpPr/>
          <p:nvPr/>
        </p:nvSpPr>
        <p:spPr>
          <a:xfrm>
            <a:off x="205740" y="603504"/>
            <a:ext cx="6172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603504"/>
            <a:ext cx="1028700" cy="288036"/>
          </a:xfrm>
          <a:prstGeom prst="rect">
            <a:avLst/>
          </a:prstGeom>
          <a:solidFill>
            <a:srgbClr val="1E3557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0" name="Text 8"/>
          <p:cNvSpPr/>
          <p:nvPr/>
        </p:nvSpPr>
        <p:spPr>
          <a:xfrm>
            <a:off x="822960" y="603504"/>
            <a:ext cx="10287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51660" y="603504"/>
            <a:ext cx="1028700" cy="288036"/>
          </a:xfrm>
          <a:prstGeom prst="rect">
            <a:avLst/>
          </a:prstGeom>
          <a:solidFill>
            <a:srgbClr val="1E3557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2" name="Text 10"/>
          <p:cNvSpPr/>
          <p:nvPr/>
        </p:nvSpPr>
        <p:spPr>
          <a:xfrm>
            <a:off x="1851660" y="603504"/>
            <a:ext cx="10287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0360" y="603504"/>
            <a:ext cx="6035040" cy="288036"/>
          </a:xfrm>
          <a:prstGeom prst="rect">
            <a:avLst/>
          </a:prstGeom>
          <a:solidFill>
            <a:srgbClr val="1E3557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4" name="Text 12"/>
          <p:cNvSpPr/>
          <p:nvPr/>
        </p:nvSpPr>
        <p:spPr>
          <a:xfrm>
            <a:off x="2880360" y="603504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/ MACRO DRIVER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5740" y="891540"/>
            <a:ext cx="61722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6" name="Shape 14"/>
          <p:cNvSpPr/>
          <p:nvPr/>
        </p:nvSpPr>
        <p:spPr>
          <a:xfrm>
            <a:off x="822960" y="891540"/>
            <a:ext cx="102870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7" name="Shape 15"/>
          <p:cNvSpPr/>
          <p:nvPr/>
        </p:nvSpPr>
        <p:spPr>
          <a:xfrm>
            <a:off x="1851660" y="891540"/>
            <a:ext cx="102870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8" name="Shape 16"/>
          <p:cNvSpPr/>
          <p:nvPr/>
        </p:nvSpPr>
        <p:spPr>
          <a:xfrm>
            <a:off x="2880360" y="891540"/>
            <a:ext cx="603504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9" name="Shape 17"/>
          <p:cNvSpPr/>
          <p:nvPr/>
        </p:nvSpPr>
        <p:spPr>
          <a:xfrm>
            <a:off x="205740" y="891540"/>
            <a:ext cx="617220" cy="366903"/>
          </a:xfrm>
          <a:prstGeom prst="rect">
            <a:avLst/>
          </a:prstGeom>
          <a:solidFill>
            <a:srgbClr val="1A2B45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0" name="Text 18"/>
          <p:cNvSpPr/>
          <p:nvPr/>
        </p:nvSpPr>
        <p:spPr>
          <a:xfrm>
            <a:off x="205740" y="891540"/>
            <a:ext cx="61722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891540"/>
            <a:ext cx="102870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61388" y="972122"/>
            <a:ext cx="809244" cy="205740"/>
          </a:xfrm>
          <a:prstGeom prst="rect">
            <a:avLst/>
          </a:prstGeom>
          <a:solidFill>
            <a:srgbClr val="D0312D"/>
          </a:solidFill>
          <a:ln w="12700">
            <a:solidFill>
              <a:srgbClr val="D0312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3" name="Text 21"/>
          <p:cNvSpPr/>
          <p:nvPr/>
        </p:nvSpPr>
        <p:spPr>
          <a:xfrm>
            <a:off x="1961388" y="972122"/>
            <a:ext cx="80924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962656" y="891540"/>
            <a:ext cx="589788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commodity price collapse — deflationary pressure</a:t>
            </a:r>
            <a:endParaRPr lang="en-US" sz="938" dirty="0"/>
          </a:p>
        </p:txBody>
      </p:sp>
      <p:sp>
        <p:nvSpPr>
          <p:cNvPr id="25" name="Shape 23"/>
          <p:cNvSpPr/>
          <p:nvPr/>
        </p:nvSpPr>
        <p:spPr>
          <a:xfrm>
            <a:off x="205740" y="1258443"/>
            <a:ext cx="61722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6" name="Shape 24"/>
          <p:cNvSpPr/>
          <p:nvPr/>
        </p:nvSpPr>
        <p:spPr>
          <a:xfrm>
            <a:off x="822960" y="1258443"/>
            <a:ext cx="102870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7" name="Shape 25"/>
          <p:cNvSpPr/>
          <p:nvPr/>
        </p:nvSpPr>
        <p:spPr>
          <a:xfrm>
            <a:off x="1851660" y="1258443"/>
            <a:ext cx="102870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8" name="Shape 26"/>
          <p:cNvSpPr/>
          <p:nvPr/>
        </p:nvSpPr>
        <p:spPr>
          <a:xfrm>
            <a:off x="2880360" y="1258443"/>
            <a:ext cx="603504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9" name="Shape 27"/>
          <p:cNvSpPr/>
          <p:nvPr/>
        </p:nvSpPr>
        <p:spPr>
          <a:xfrm>
            <a:off x="205740" y="1258443"/>
            <a:ext cx="617220" cy="366903"/>
          </a:xfrm>
          <a:prstGeom prst="rect">
            <a:avLst/>
          </a:prstGeom>
          <a:solidFill>
            <a:srgbClr val="1A2B45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0" name="Text 28"/>
          <p:cNvSpPr/>
          <p:nvPr/>
        </p:nvSpPr>
        <p:spPr>
          <a:xfrm>
            <a:off x="205740" y="1258443"/>
            <a:ext cx="61722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1258443"/>
            <a:ext cx="102870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61388" y="1339025"/>
            <a:ext cx="809244" cy="2057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3" name="Text 31"/>
          <p:cNvSpPr/>
          <p:nvPr/>
        </p:nvSpPr>
        <p:spPr>
          <a:xfrm>
            <a:off x="1961388" y="1339025"/>
            <a:ext cx="80924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2962656" y="1258443"/>
            <a:ext cx="589788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Demonetisation shock — liquidity disruption in banking</a:t>
            </a:r>
            <a:endParaRPr lang="en-US" sz="938" dirty="0"/>
          </a:p>
        </p:txBody>
      </p:sp>
      <p:sp>
        <p:nvSpPr>
          <p:cNvPr id="35" name="Shape 33"/>
          <p:cNvSpPr/>
          <p:nvPr/>
        </p:nvSpPr>
        <p:spPr>
          <a:xfrm>
            <a:off x="205740" y="1625346"/>
            <a:ext cx="61722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6" name="Shape 34"/>
          <p:cNvSpPr/>
          <p:nvPr/>
        </p:nvSpPr>
        <p:spPr>
          <a:xfrm>
            <a:off x="822960" y="1625346"/>
            <a:ext cx="102870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7" name="Shape 35"/>
          <p:cNvSpPr/>
          <p:nvPr/>
        </p:nvSpPr>
        <p:spPr>
          <a:xfrm>
            <a:off x="1851660" y="1625346"/>
            <a:ext cx="102870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8" name="Shape 36"/>
          <p:cNvSpPr/>
          <p:nvPr/>
        </p:nvSpPr>
        <p:spPr>
          <a:xfrm>
            <a:off x="2880360" y="1625346"/>
            <a:ext cx="603504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9" name="Shape 37"/>
          <p:cNvSpPr/>
          <p:nvPr/>
        </p:nvSpPr>
        <p:spPr>
          <a:xfrm>
            <a:off x="205740" y="1625346"/>
            <a:ext cx="617220" cy="366903"/>
          </a:xfrm>
          <a:prstGeom prst="rect">
            <a:avLst/>
          </a:prstGeom>
          <a:solidFill>
            <a:srgbClr val="1A2B45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40" name="Text 38"/>
          <p:cNvSpPr/>
          <p:nvPr/>
        </p:nvSpPr>
        <p:spPr>
          <a:xfrm>
            <a:off x="205740" y="1625346"/>
            <a:ext cx="61722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22960" y="1625346"/>
            <a:ext cx="102870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961388" y="1705928"/>
            <a:ext cx="809244" cy="2057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43" name="Text 41"/>
          <p:cNvSpPr/>
          <p:nvPr/>
        </p:nvSpPr>
        <p:spPr>
          <a:xfrm>
            <a:off x="1961388" y="1705928"/>
            <a:ext cx="80924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2962656" y="1625346"/>
            <a:ext cx="589788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implementation — supply chain price distortions</a:t>
            </a:r>
            <a:endParaRPr lang="en-US" sz="938" dirty="0"/>
          </a:p>
        </p:txBody>
      </p:sp>
      <p:sp>
        <p:nvSpPr>
          <p:cNvPr id="45" name="Shape 43"/>
          <p:cNvSpPr/>
          <p:nvPr/>
        </p:nvSpPr>
        <p:spPr>
          <a:xfrm>
            <a:off x="205740" y="1992249"/>
            <a:ext cx="61722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46" name="Shape 44"/>
          <p:cNvSpPr/>
          <p:nvPr/>
        </p:nvSpPr>
        <p:spPr>
          <a:xfrm>
            <a:off x="822960" y="1992249"/>
            <a:ext cx="102870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47" name="Shape 45"/>
          <p:cNvSpPr/>
          <p:nvPr/>
        </p:nvSpPr>
        <p:spPr>
          <a:xfrm>
            <a:off x="1851660" y="1992249"/>
            <a:ext cx="102870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48" name="Shape 46"/>
          <p:cNvSpPr/>
          <p:nvPr/>
        </p:nvSpPr>
        <p:spPr>
          <a:xfrm>
            <a:off x="2880360" y="1992249"/>
            <a:ext cx="603504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49" name="Shape 47"/>
          <p:cNvSpPr/>
          <p:nvPr/>
        </p:nvSpPr>
        <p:spPr>
          <a:xfrm>
            <a:off x="205740" y="1992249"/>
            <a:ext cx="617220" cy="366903"/>
          </a:xfrm>
          <a:prstGeom prst="rect">
            <a:avLst/>
          </a:prstGeom>
          <a:solidFill>
            <a:srgbClr val="1A2B45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50" name="Text 48"/>
          <p:cNvSpPr/>
          <p:nvPr/>
        </p:nvSpPr>
        <p:spPr>
          <a:xfrm>
            <a:off x="205740" y="1992249"/>
            <a:ext cx="61722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22960" y="1992249"/>
            <a:ext cx="102870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961388" y="2072831"/>
            <a:ext cx="809244" cy="2057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53" name="Text 51"/>
          <p:cNvSpPr/>
          <p:nvPr/>
        </p:nvSpPr>
        <p:spPr>
          <a:xfrm>
            <a:off x="1961388" y="2072831"/>
            <a:ext cx="80924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2962656" y="1992249"/>
            <a:ext cx="589788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stress period</a:t>
            </a:r>
            <a:endParaRPr lang="en-US" sz="938" dirty="0"/>
          </a:p>
        </p:txBody>
      </p:sp>
      <p:sp>
        <p:nvSpPr>
          <p:cNvPr id="55" name="Shape 53"/>
          <p:cNvSpPr/>
          <p:nvPr/>
        </p:nvSpPr>
        <p:spPr>
          <a:xfrm>
            <a:off x="205740" y="2359152"/>
            <a:ext cx="61722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56" name="Shape 54"/>
          <p:cNvSpPr/>
          <p:nvPr/>
        </p:nvSpPr>
        <p:spPr>
          <a:xfrm>
            <a:off x="822960" y="2359152"/>
            <a:ext cx="102870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57" name="Shape 55"/>
          <p:cNvSpPr/>
          <p:nvPr/>
        </p:nvSpPr>
        <p:spPr>
          <a:xfrm>
            <a:off x="1851660" y="2359152"/>
            <a:ext cx="102870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58" name="Shape 56"/>
          <p:cNvSpPr/>
          <p:nvPr/>
        </p:nvSpPr>
        <p:spPr>
          <a:xfrm>
            <a:off x="2880360" y="2359152"/>
            <a:ext cx="603504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59" name="Shape 57"/>
          <p:cNvSpPr/>
          <p:nvPr/>
        </p:nvSpPr>
        <p:spPr>
          <a:xfrm>
            <a:off x="205740" y="2359152"/>
            <a:ext cx="617220" cy="366903"/>
          </a:xfrm>
          <a:prstGeom prst="rect">
            <a:avLst/>
          </a:prstGeom>
          <a:solidFill>
            <a:srgbClr val="1A2B45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60" name="Text 58"/>
          <p:cNvSpPr/>
          <p:nvPr/>
        </p:nvSpPr>
        <p:spPr>
          <a:xfrm>
            <a:off x="205740" y="2359152"/>
            <a:ext cx="61722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22960" y="2359152"/>
            <a:ext cx="102870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Jan, Feb, Dec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961388" y="2412302"/>
            <a:ext cx="809244" cy="130302"/>
          </a:xfrm>
          <a:prstGeom prst="rect">
            <a:avLst/>
          </a:prstGeom>
          <a:solidFill>
            <a:srgbClr val="D0312D"/>
          </a:solidFill>
          <a:ln w="12700">
            <a:solidFill>
              <a:srgbClr val="D0312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63" name="Shape 61"/>
          <p:cNvSpPr/>
          <p:nvPr/>
        </p:nvSpPr>
        <p:spPr>
          <a:xfrm>
            <a:off x="1961388" y="2542604"/>
            <a:ext cx="809244" cy="13030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64" name="Text 62"/>
          <p:cNvSpPr/>
          <p:nvPr/>
        </p:nvSpPr>
        <p:spPr>
          <a:xfrm>
            <a:off x="1961388" y="2412302"/>
            <a:ext cx="809244" cy="130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</a:t>
            </a:r>
            <a:endParaRPr lang="en-US" sz="638" dirty="0"/>
          </a:p>
        </p:txBody>
      </p:sp>
      <p:sp>
        <p:nvSpPr>
          <p:cNvPr id="65" name="Text 63"/>
          <p:cNvSpPr/>
          <p:nvPr/>
        </p:nvSpPr>
        <p:spPr>
          <a:xfrm>
            <a:off x="1961388" y="2542604"/>
            <a:ext cx="809244" cy="130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38" dirty="0"/>
          </a:p>
        </p:txBody>
      </p:sp>
      <p:sp>
        <p:nvSpPr>
          <p:cNvPr id="66" name="Text 64"/>
          <p:cNvSpPr/>
          <p:nvPr/>
        </p:nvSpPr>
        <p:spPr>
          <a:xfrm>
            <a:off x="2962656" y="2359152"/>
            <a:ext cx="589788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crisis — credit risk elevated in banking sector</a:t>
            </a:r>
            <a:endParaRPr lang="en-US" sz="938" dirty="0"/>
          </a:p>
        </p:txBody>
      </p:sp>
      <p:sp>
        <p:nvSpPr>
          <p:cNvPr id="67" name="Shape 65"/>
          <p:cNvSpPr/>
          <p:nvPr/>
        </p:nvSpPr>
        <p:spPr>
          <a:xfrm>
            <a:off x="205740" y="2726055"/>
            <a:ext cx="61722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68" name="Shape 66"/>
          <p:cNvSpPr/>
          <p:nvPr/>
        </p:nvSpPr>
        <p:spPr>
          <a:xfrm>
            <a:off x="822960" y="2726055"/>
            <a:ext cx="102870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69" name="Shape 67"/>
          <p:cNvSpPr/>
          <p:nvPr/>
        </p:nvSpPr>
        <p:spPr>
          <a:xfrm>
            <a:off x="1851660" y="2726055"/>
            <a:ext cx="102870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70" name="Shape 68"/>
          <p:cNvSpPr/>
          <p:nvPr/>
        </p:nvSpPr>
        <p:spPr>
          <a:xfrm>
            <a:off x="2880360" y="2726055"/>
            <a:ext cx="603504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71" name="Shape 69"/>
          <p:cNvSpPr/>
          <p:nvPr/>
        </p:nvSpPr>
        <p:spPr>
          <a:xfrm>
            <a:off x="205740" y="2726055"/>
            <a:ext cx="617220" cy="366903"/>
          </a:xfrm>
          <a:prstGeom prst="rect">
            <a:avLst/>
          </a:prstGeom>
          <a:solidFill>
            <a:srgbClr val="1A2B45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72" name="Text 70"/>
          <p:cNvSpPr/>
          <p:nvPr/>
        </p:nvSpPr>
        <p:spPr>
          <a:xfrm>
            <a:off x="205740" y="2726055"/>
            <a:ext cx="61722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822960" y="2726055"/>
            <a:ext cx="102870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Aug, Oct, Nov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961388" y="2806637"/>
            <a:ext cx="809244" cy="2057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75" name="Text 73"/>
          <p:cNvSpPr/>
          <p:nvPr/>
        </p:nvSpPr>
        <p:spPr>
          <a:xfrm>
            <a:off x="1961388" y="2806637"/>
            <a:ext cx="80924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× 3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2962656" y="2726055"/>
            <a:ext cx="589788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pandemic — demand collapse, NPA risk surge</a:t>
            </a:r>
            <a:endParaRPr lang="en-US" sz="938" dirty="0"/>
          </a:p>
        </p:txBody>
      </p:sp>
      <p:sp>
        <p:nvSpPr>
          <p:cNvPr id="77" name="Shape 75"/>
          <p:cNvSpPr/>
          <p:nvPr/>
        </p:nvSpPr>
        <p:spPr>
          <a:xfrm>
            <a:off x="205740" y="3092958"/>
            <a:ext cx="61722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78" name="Shape 76"/>
          <p:cNvSpPr/>
          <p:nvPr/>
        </p:nvSpPr>
        <p:spPr>
          <a:xfrm>
            <a:off x="822960" y="3092958"/>
            <a:ext cx="102870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79" name="Shape 77"/>
          <p:cNvSpPr/>
          <p:nvPr/>
        </p:nvSpPr>
        <p:spPr>
          <a:xfrm>
            <a:off x="1851660" y="3092958"/>
            <a:ext cx="102870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80" name="Shape 78"/>
          <p:cNvSpPr/>
          <p:nvPr/>
        </p:nvSpPr>
        <p:spPr>
          <a:xfrm>
            <a:off x="2880360" y="3092958"/>
            <a:ext cx="603504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81" name="Shape 79"/>
          <p:cNvSpPr/>
          <p:nvPr/>
        </p:nvSpPr>
        <p:spPr>
          <a:xfrm>
            <a:off x="205740" y="3092958"/>
            <a:ext cx="617220" cy="366903"/>
          </a:xfrm>
          <a:prstGeom prst="rect">
            <a:avLst/>
          </a:prstGeom>
          <a:solidFill>
            <a:srgbClr val="1A2B45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82" name="Text 80"/>
          <p:cNvSpPr/>
          <p:nvPr/>
        </p:nvSpPr>
        <p:spPr>
          <a:xfrm>
            <a:off x="205740" y="3092958"/>
            <a:ext cx="61722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822960" y="3092958"/>
            <a:ext cx="102870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961388" y="3173540"/>
            <a:ext cx="809244" cy="205740"/>
          </a:xfrm>
          <a:prstGeom prst="rect">
            <a:avLst/>
          </a:prstGeom>
          <a:solidFill>
            <a:srgbClr val="D0312D"/>
          </a:solidFill>
          <a:ln w="12700">
            <a:solidFill>
              <a:srgbClr val="D0312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85" name="Text 83"/>
          <p:cNvSpPr/>
          <p:nvPr/>
        </p:nvSpPr>
        <p:spPr>
          <a:xfrm>
            <a:off x="1961388" y="3173540"/>
            <a:ext cx="80924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25" dirty="0"/>
          </a:p>
        </p:txBody>
      </p:sp>
      <p:sp>
        <p:nvSpPr>
          <p:cNvPr id="86" name="Text 84"/>
          <p:cNvSpPr/>
          <p:nvPr/>
        </p:nvSpPr>
        <p:spPr>
          <a:xfrm>
            <a:off x="2962656" y="3092958"/>
            <a:ext cx="589788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supply shock — input cost inflation surge</a:t>
            </a:r>
            <a:endParaRPr lang="en-US" sz="938" dirty="0"/>
          </a:p>
        </p:txBody>
      </p:sp>
      <p:sp>
        <p:nvSpPr>
          <p:cNvPr id="87" name="Shape 85"/>
          <p:cNvSpPr/>
          <p:nvPr/>
        </p:nvSpPr>
        <p:spPr>
          <a:xfrm>
            <a:off x="205740" y="3459861"/>
            <a:ext cx="61722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88" name="Shape 86"/>
          <p:cNvSpPr/>
          <p:nvPr/>
        </p:nvSpPr>
        <p:spPr>
          <a:xfrm>
            <a:off x="822960" y="3459861"/>
            <a:ext cx="102870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89" name="Shape 87"/>
          <p:cNvSpPr/>
          <p:nvPr/>
        </p:nvSpPr>
        <p:spPr>
          <a:xfrm>
            <a:off x="1851660" y="3459861"/>
            <a:ext cx="102870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90" name="Shape 88"/>
          <p:cNvSpPr/>
          <p:nvPr/>
        </p:nvSpPr>
        <p:spPr>
          <a:xfrm>
            <a:off x="2880360" y="3459861"/>
            <a:ext cx="6035040" cy="366903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91" name="Shape 89"/>
          <p:cNvSpPr/>
          <p:nvPr/>
        </p:nvSpPr>
        <p:spPr>
          <a:xfrm>
            <a:off x="205740" y="3459861"/>
            <a:ext cx="617220" cy="366903"/>
          </a:xfrm>
          <a:prstGeom prst="rect">
            <a:avLst/>
          </a:prstGeom>
          <a:solidFill>
            <a:srgbClr val="1A2B45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92" name="Text 90"/>
          <p:cNvSpPr/>
          <p:nvPr/>
        </p:nvSpPr>
        <p:spPr>
          <a:xfrm>
            <a:off x="205740" y="3459861"/>
            <a:ext cx="61722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822960" y="3459861"/>
            <a:ext cx="102870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Jul, Aug, Sep, Oct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961388" y="3540443"/>
            <a:ext cx="809244" cy="205740"/>
          </a:xfrm>
          <a:prstGeom prst="rect">
            <a:avLst/>
          </a:prstGeom>
          <a:solidFill>
            <a:srgbClr val="D0312D"/>
          </a:solidFill>
          <a:ln w="12700">
            <a:solidFill>
              <a:srgbClr val="D0312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95" name="Text 93"/>
          <p:cNvSpPr/>
          <p:nvPr/>
        </p:nvSpPr>
        <p:spPr>
          <a:xfrm>
            <a:off x="1961388" y="3540443"/>
            <a:ext cx="80924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× 4</a:t>
            </a:r>
            <a:endParaRPr lang="en-US" sz="825" dirty="0"/>
          </a:p>
        </p:txBody>
      </p:sp>
      <p:sp>
        <p:nvSpPr>
          <p:cNvPr id="96" name="Text 94"/>
          <p:cNvSpPr/>
          <p:nvPr/>
        </p:nvSpPr>
        <p:spPr>
          <a:xfrm>
            <a:off x="2962656" y="3459861"/>
            <a:ext cx="589788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tightening cycle — rate risk for bank portfolios</a:t>
            </a:r>
            <a:endParaRPr lang="en-US" sz="938" dirty="0"/>
          </a:p>
        </p:txBody>
      </p:sp>
      <p:sp>
        <p:nvSpPr>
          <p:cNvPr id="97" name="Shape 95"/>
          <p:cNvSpPr/>
          <p:nvPr/>
        </p:nvSpPr>
        <p:spPr>
          <a:xfrm>
            <a:off x="205740" y="3826764"/>
            <a:ext cx="61722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98" name="Shape 96"/>
          <p:cNvSpPr/>
          <p:nvPr/>
        </p:nvSpPr>
        <p:spPr>
          <a:xfrm>
            <a:off x="822960" y="3826764"/>
            <a:ext cx="102870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99" name="Shape 97"/>
          <p:cNvSpPr/>
          <p:nvPr/>
        </p:nvSpPr>
        <p:spPr>
          <a:xfrm>
            <a:off x="1851660" y="3826764"/>
            <a:ext cx="102870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00" name="Shape 98"/>
          <p:cNvSpPr/>
          <p:nvPr/>
        </p:nvSpPr>
        <p:spPr>
          <a:xfrm>
            <a:off x="2880360" y="3826764"/>
            <a:ext cx="6035040" cy="366903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01" name="Shape 99"/>
          <p:cNvSpPr/>
          <p:nvPr/>
        </p:nvSpPr>
        <p:spPr>
          <a:xfrm>
            <a:off x="205740" y="3826764"/>
            <a:ext cx="617220" cy="366903"/>
          </a:xfrm>
          <a:prstGeom prst="rect">
            <a:avLst/>
          </a:prstGeom>
          <a:solidFill>
            <a:srgbClr val="1A2B45"/>
          </a:solidFill>
          <a:ln w="6350">
            <a:solidFill>
              <a:srgbClr val="2C477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02" name="Text 100"/>
          <p:cNvSpPr/>
          <p:nvPr/>
        </p:nvSpPr>
        <p:spPr>
          <a:xfrm>
            <a:off x="205740" y="3826764"/>
            <a:ext cx="61722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822960" y="3826764"/>
            <a:ext cx="102870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Jul, Aug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961388" y="3879914"/>
            <a:ext cx="809244" cy="130302"/>
          </a:xfrm>
          <a:prstGeom prst="rect">
            <a:avLst/>
          </a:prstGeom>
          <a:solidFill>
            <a:srgbClr val="D0312D"/>
          </a:solidFill>
          <a:ln w="12700">
            <a:solidFill>
              <a:srgbClr val="D0312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05" name="Shape 103"/>
          <p:cNvSpPr/>
          <p:nvPr/>
        </p:nvSpPr>
        <p:spPr>
          <a:xfrm>
            <a:off x="1961388" y="4010216"/>
            <a:ext cx="809244" cy="13030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06" name="Text 104"/>
          <p:cNvSpPr/>
          <p:nvPr/>
        </p:nvSpPr>
        <p:spPr>
          <a:xfrm>
            <a:off x="1961388" y="3879914"/>
            <a:ext cx="809244" cy="130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</a:t>
            </a:r>
            <a:endParaRPr lang="en-US" sz="638" dirty="0"/>
          </a:p>
        </p:txBody>
      </p:sp>
      <p:sp>
        <p:nvSpPr>
          <p:cNvPr id="107" name="Text 105"/>
          <p:cNvSpPr/>
          <p:nvPr/>
        </p:nvSpPr>
        <p:spPr>
          <a:xfrm>
            <a:off x="1961388" y="4010216"/>
            <a:ext cx="809244" cy="130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38" dirty="0"/>
          </a:p>
        </p:txBody>
      </p:sp>
      <p:sp>
        <p:nvSpPr>
          <p:cNvPr id="108" name="Text 106"/>
          <p:cNvSpPr/>
          <p:nvPr/>
        </p:nvSpPr>
        <p:spPr>
          <a:xfrm>
            <a:off x="2962656" y="3826764"/>
            <a:ext cx="5897880" cy="36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core inflation — margin pressure on banks</a:t>
            </a:r>
            <a:endParaRPr lang="en-US" sz="938" dirty="0"/>
          </a:p>
        </p:txBody>
      </p:sp>
      <p:sp>
        <p:nvSpPr>
          <p:cNvPr id="109" name="Shape 107"/>
          <p:cNvSpPr/>
          <p:nvPr/>
        </p:nvSpPr>
        <p:spPr>
          <a:xfrm>
            <a:off x="205740" y="4275963"/>
            <a:ext cx="150876" cy="150876"/>
          </a:xfrm>
          <a:prstGeom prst="rect">
            <a:avLst/>
          </a:prstGeom>
          <a:solidFill>
            <a:srgbClr val="D0312D"/>
          </a:solidFill>
          <a:ln w="12700">
            <a:solidFill>
              <a:srgbClr val="D0312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10" name="Text 108"/>
          <p:cNvSpPr/>
          <p:nvPr/>
        </p:nvSpPr>
        <p:spPr>
          <a:xfrm>
            <a:off x="390906" y="4275963"/>
            <a:ext cx="82296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825" dirty="0"/>
          </a:p>
        </p:txBody>
      </p:sp>
      <p:sp>
        <p:nvSpPr>
          <p:cNvPr id="111" name="Shape 109"/>
          <p:cNvSpPr/>
          <p:nvPr/>
        </p:nvSpPr>
        <p:spPr>
          <a:xfrm>
            <a:off x="1303020" y="4275963"/>
            <a:ext cx="150876" cy="1508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12" name="Text 110"/>
          <p:cNvSpPr/>
          <p:nvPr/>
        </p:nvSpPr>
        <p:spPr>
          <a:xfrm>
            <a:off x="1488186" y="4275963"/>
            <a:ext cx="68580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25" dirty="0"/>
          </a:p>
        </p:txBody>
      </p:sp>
      <p:sp>
        <p:nvSpPr>
          <p:cNvPr id="113" name="Text 111"/>
          <p:cNvSpPr/>
          <p:nvPr/>
        </p:nvSpPr>
        <p:spPr>
          <a:xfrm>
            <a:off x="5349240" y="4275963"/>
            <a:ext cx="356616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Banking Sector Macroeconomic Risk Analysis  |  Period: 2015–2024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0" y="5102352"/>
            <a:ext cx="9121140" cy="41148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XGBoost Forecasting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CBRI-Enhanced Model · 80/20 Chronological Split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4964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Setup:  117 months  ·  Train: 93 months (80%)  ·  Test: 24 months (20%)  ·  Chronological split — no data leakage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75104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4251960" cy="347472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19751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XGBoost Baseline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Inflation_rate, CPI_MoM_change,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CPI_rolling_std_6m, CPI_lag_6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base features)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0" y="28163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n_estimators=300 · lr=0.05 · max_depth=4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subsample=0.8 · colsample_bytree=0.8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975104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0" y="1975104"/>
            <a:ext cx="42519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19751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XGBoost + CBRI (Proposed)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5216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base features + CBRI score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Risk_Tier_num (numeric)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features total)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52160" y="28163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hyperparameters as Model 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CBRI injects risk context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854964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CBRI Feature Importance in Model B: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0" y="3858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Inflation_rate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0" y="38587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0" y="40599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Inflation_rate (lag)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20640" y="40599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0" y="42611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CPI_lag_6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20640" y="4261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0" y="4462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CPI_MoM_change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20640" y="44622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35040" y="3858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CBRI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955280" y="38587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35040" y="40599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CPI_rolling_std_6m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955280" y="40599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35040" y="42611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Risk_Tier_num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4261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Comparison — All Methods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— Research Paper Summary · Lower Error = Better Performance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  |  PMDS505P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256032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1261872"/>
            <a:ext cx="256032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3464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1261872"/>
            <a:ext cx="109728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94960" y="1261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1261872"/>
            <a:ext cx="109728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92240" y="1261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1261872"/>
            <a:ext cx="118872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589520" y="12618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(%)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609344"/>
            <a:ext cx="2560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160934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ARIMA(1,1,1)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1609344"/>
            <a:ext cx="2560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834640" y="160934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94960" y="1609344"/>
            <a:ext cx="1097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394960" y="160934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609344"/>
            <a:ext cx="1097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92240" y="160934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1.2072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89520" y="1609344"/>
            <a:ext cx="1188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589520" y="160934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121408"/>
            <a:ext cx="256032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274320" y="21214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SARIMA(1,1,1)(1,1,1,12)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34640" y="2121408"/>
            <a:ext cx="256032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834640" y="21214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94960" y="2121408"/>
            <a:ext cx="10972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394960" y="212140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2121408"/>
            <a:ext cx="10972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92240" y="212140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1.2293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89520" y="2121408"/>
            <a:ext cx="118872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589520" y="212140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18.32%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2633472"/>
            <a:ext cx="2560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74320" y="26334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Baseline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★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834640" y="2633472"/>
            <a:ext cx="2560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834640" y="26334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b="1" dirty="0">
              <a:solidFill>
                <a:srgbClr val="00B050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394960" y="2633472"/>
            <a:ext cx="1097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394960" y="263347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0.7378</a:t>
            </a:r>
            <a:endParaRPr lang="en-US" sz="900" b="1" dirty="0">
              <a:solidFill>
                <a:srgbClr val="00B050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492240" y="2633472"/>
            <a:ext cx="1097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92240" y="263347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1.0450</a:t>
            </a:r>
            <a:endParaRPr lang="en-US" sz="900" b="1" dirty="0">
              <a:solidFill>
                <a:srgbClr val="00B050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589520" y="2633472"/>
            <a:ext cx="1188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589520" y="263347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14.18%</a:t>
            </a:r>
            <a:endParaRPr lang="en-US" sz="1050" b="1" dirty="0">
              <a:solidFill>
                <a:srgbClr val="00B050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74320" y="3145536"/>
            <a:ext cx="256032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74320" y="314553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XGBoost + CBRI (Proposed)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834640" y="3145536"/>
            <a:ext cx="256032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834640" y="314553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Risk Index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394960" y="3145536"/>
            <a:ext cx="109728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394960" y="314553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0.7771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92240" y="3145536"/>
            <a:ext cx="109728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492240" y="314553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cs typeface="Calibri" pitchFamily="34" charset="-120"/>
              </a:rPr>
              <a:t>1.06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589520" y="3145536"/>
            <a:ext cx="118872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589520" y="31455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cs typeface="Calibri" pitchFamily="34" charset="-120"/>
              </a:rPr>
              <a:t>15.04</a:t>
            </a:r>
            <a:r>
              <a:rPr lang="en-US" sz="900" b="1" dirty="0">
                <a:latin typeface="Calibri" pitchFamily="34" charset="0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0F7D880-6611-B5CD-7500-92F82A740070}"/>
              </a:ext>
            </a:extLst>
          </p:cNvPr>
          <p:cNvSpPr txBox="1"/>
          <p:nvPr/>
        </p:nvSpPr>
        <p:spPr>
          <a:xfrm>
            <a:off x="274320" y="3767328"/>
            <a:ext cx="86282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Among all models, </a:t>
            </a:r>
            <a:r>
              <a:rPr lang="en-US" sz="1100" b="1" dirty="0"/>
              <a:t>XGBoost (Baseline)</a:t>
            </a:r>
            <a:r>
              <a:rPr lang="en-US" sz="1100" dirty="0"/>
              <a:t> achieved the </a:t>
            </a:r>
            <a:r>
              <a:rPr lang="en-US" sz="1100" b="1" dirty="0"/>
              <a:t>best performance</a:t>
            </a:r>
            <a:endParaRPr lang="en-IN" sz="105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AFD4ECC-C144-D6EB-CBC2-C13050AEF16A}"/>
              </a:ext>
            </a:extLst>
          </p:cNvPr>
          <p:cNvSpPr txBox="1"/>
          <p:nvPr/>
        </p:nvSpPr>
        <p:spPr>
          <a:xfrm>
            <a:off x="274320" y="4020681"/>
            <a:ext cx="8628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It has the </a:t>
            </a:r>
            <a:r>
              <a:rPr lang="en-US" sz="1200" b="1" dirty="0"/>
              <a:t>lowest error values (MAE, RMSE, MAPE)</a:t>
            </a:r>
            <a:endParaRPr lang="en-IN" sz="1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0E0D3A4-3333-EB85-73F6-33057F603D8A}"/>
              </a:ext>
            </a:extLst>
          </p:cNvPr>
          <p:cNvSpPr txBox="1"/>
          <p:nvPr/>
        </p:nvSpPr>
        <p:spPr>
          <a:xfrm>
            <a:off x="274320" y="4287196"/>
            <a:ext cx="6665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Statistical models like ARIMA and SARIMA performed moderately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3DE4F81-5528-2133-4C5F-261C10F6F038}"/>
              </a:ext>
            </a:extLst>
          </p:cNvPr>
          <p:cNvSpPr txBox="1"/>
          <p:nvPr/>
        </p:nvSpPr>
        <p:spPr>
          <a:xfrm>
            <a:off x="274320" y="4549140"/>
            <a:ext cx="6548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proposed model (</a:t>
            </a:r>
            <a:r>
              <a:rPr lang="en-US" sz="1200" b="1" dirty="0"/>
              <a:t>XGBoost + CBRI</a:t>
            </a:r>
            <a:r>
              <a:rPr lang="en-US" sz="1200" dirty="0"/>
              <a:t>) did not improve forecasting accuracy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6956" y="280659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 and 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8321040" cy="13716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11480" y="914400"/>
          <a:ext cx="8321040" cy="39684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EC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EC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Implemented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EC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EC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Impact for Banking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Series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Trend, seasonality, and stationarity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showed identifiable patterns and periodic fluctuations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Helps understand inflation behavior over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Z-Score, ARIMA, SARIMA, GARCH, Isolation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abnormal inflation periods were successfully detected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early warning signals for financial instability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 Modeling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GARCH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 spikes were captured during unstable economic periods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risk monitoring and forecasting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variables and rolling statistics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CPI patterns improved prediction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Enhances model reliability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Banking Risk Index (CBRI)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levels were categorized into structured tiers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measurable financial risk indicators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ARIMA, SARIMA, XGBoost 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produced consistent forecasting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data-driven decision making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457200" cy="4809744"/>
          </a:xfrm>
          <a:prstGeom prst="rect">
            <a:avLst/>
          </a:prstGeom>
          <a:solidFill>
            <a:srgbClr val="0D2B4B"/>
          </a:solidFill>
          <a:ln w="12700">
            <a:solidFill>
              <a:srgbClr val="0D2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72922" y="1738274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2579522"/>
            <a:ext cx="2743200" cy="54864"/>
          </a:xfrm>
          <a:prstGeom prst="rect">
            <a:avLst/>
          </a:prstGeom>
          <a:solidFill>
            <a:srgbClr val="0ABDE3"/>
          </a:solidFill>
          <a:ln w="12700">
            <a:solidFill>
              <a:srgbClr val="0AB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8563" y="26974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Anomaly Detection &amp; Banking Risk Assessment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681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 Project  ·  PMDS505P  ·  MSc Data Science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2178</Words>
  <Application>Microsoft Office PowerPoint</Application>
  <PresentationFormat>On-screen Show (16:9)</PresentationFormat>
  <Paragraphs>476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Amasis MT Pro Medium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CPI Inflation Anomaly Detection &amp; Banking Risk Assessment</dc:title>
  <dc:subject>PptxGenJS Presentation</dc:subject>
  <dc:creator>Samadhan</dc:creator>
  <cp:lastModifiedBy>samadhan ekad</cp:lastModifiedBy>
  <cp:revision>5</cp:revision>
  <dcterms:created xsi:type="dcterms:W3CDTF">2026-04-02T13:38:36Z</dcterms:created>
  <dcterms:modified xsi:type="dcterms:W3CDTF">2026-04-03T06:56:37Z</dcterms:modified>
</cp:coreProperties>
</file>